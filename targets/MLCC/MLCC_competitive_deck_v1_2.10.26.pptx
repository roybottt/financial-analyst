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 / mean EBITDA (x)</c:v>
                </c:pt>
              </c:strCache>
            </c:strRef>
          </c:tx>
          <c:spPr>
            <a:solidFill>
              <a:srgbClr val="2E7D32"/>
            </a:solidFill>
          </c:spPr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2E7D32"/>
              </a:solidFill>
            </c:spPr>
          </c:dPt>
          <c:dPt>
            <c:idx val="3"/>
            <c:spPr>
              <a:solidFill>
                <a:srgbClr val="E69500"/>
              </a:solidFill>
            </c:spPr>
          </c:dPt>
          <c:dPt>
            <c:idx val="4"/>
            <c:spPr>
              <a:solidFill>
                <a:srgbClr val="E69500"/>
              </a:solidFill>
            </c:spPr>
          </c:dPt>
          <c:dPt>
            <c:idx val="5"/>
            <c:spPr>
              <a:solidFill>
                <a:srgbClr val="E69500"/>
              </a:solidFill>
            </c:spPr>
          </c:dPt>
          <c:dPt>
            <c:idx val="6"/>
            <c:spPr>
              <a:solidFill>
                <a:srgbClr val="C0392B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1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TDK</c:v>
                </c:pt>
                <c:pt idx="1">
                  <c:v>Kyocera</c:v>
                </c:pt>
                <c:pt idx="2">
                  <c:v>Walsin</c:v>
                </c:pt>
                <c:pt idx="3">
                  <c:v>Taiyo Yuden</c:v>
                </c:pt>
                <c:pt idx="4">
                  <c:v>Murata</c:v>
                </c:pt>
                <c:pt idx="5">
                  <c:v>Yageo</c:v>
                </c:pt>
                <c:pt idx="6">
                  <c:v>SEMCO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13.6</c:v>
                </c:pt>
                <c:pt idx="1">
                  <c:v>15.3</c:v>
                </c:pt>
                <c:pt idx="2">
                  <c:v>20.2</c:v>
                </c:pt>
                <c:pt idx="3">
                  <c:v>22.1</c:v>
                </c:pt>
                <c:pt idx="4">
                  <c:v>32.0</c:v>
                </c:pt>
                <c:pt idx="5">
                  <c:v>33.7</c:v>
                </c:pt>
                <c:pt idx="6">
                  <c:v>64.7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6EAF0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The MLCC field: seven makers, one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Who wins the AI-server shortage, who rides it, and who only looks like an MLCC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CYCLE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2E7D32"/>
                </a:solidFill>
                <a:latin typeface="Calibri"/>
              </a:rPr>
              <a:t>18.5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Upcycle intact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BASKET VS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C0392B"/>
                </a:solidFill>
                <a:latin typeface="Calibri"/>
              </a:rPr>
              <a:t>-36%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Peaked 19 Jun-1 Jul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AI-SERVER SHARE, TOP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~85%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Murata + SEMCO [A]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20116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212140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A94A6"/>
                </a:solidFill>
                <a:latin typeface="Calibri"/>
              </a:rPr>
              <a:t>LEAD TIMES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37744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E69500"/>
                </a:solidFill>
                <a:latin typeface="Calibri"/>
              </a:rPr>
              <a:t>14-20 wks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306324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4A5C"/>
                </a:solidFill>
                <a:latin typeface="Calibri"/>
              </a:rPr>
              <a:t>vs 8-10 normal [A]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D5A"/>
                </a:solidFill>
                <a:latin typeface="Calibri"/>
              </a:rPr>
              <a:t>The big bet: the shortage runs into 2027, but most of the good news is in Murata and SEMCO prices. The cycle trade sits in the laggards; Murata is the name to buy on the next drawdown.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Market map: two leaders, a pack, and 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Value share and AI-server share; output at full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TrendForce Jun-2026; passive-components.eu 30 Jun 2026 [A]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capacity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9172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Positioning: AI exposure vs MLCC purity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Top-right = AI leaders. Top-left = cycle levers. Bottom = not really MLCC 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passive-components.eu [A]; company filings; stockanalysis.com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twoby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893725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F2D5A"/>
                </a:solidFill>
                <a:latin typeface="Calibri"/>
              </a:rPr>
              <a:t>AI leaders: </a:t>
            </a:r>
            <a:r>
              <a:rPr sz="1400">
                <a:solidFill>
                  <a:srgbClr val="3F4A5C"/>
                </a:solidFill>
                <a:latin typeface="Calibri"/>
              </a:rPr>
              <a:t>Murata, SEMCO. Pricing power, priced for it.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D5A"/>
                </a:solidFill>
                <a:latin typeface="Calibri"/>
              </a:rPr>
              <a:t>Cycle levers: </a:t>
            </a:r>
            <a:r>
              <a:rPr sz="1400">
                <a:solidFill>
                  <a:srgbClr val="3F4A5C"/>
                </a:solidFill>
                <a:latin typeface="Calibri"/>
              </a:rPr>
              <a:t>Taiyo Yuden, Yageo, Walsin. Highest beta to MLCC prices.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2D5A"/>
                </a:solidFill>
                <a:latin typeface="Calibri"/>
              </a:rPr>
              <a:t>Diversified: </a:t>
            </a:r>
            <a:r>
              <a:rPr sz="1400">
                <a:solidFill>
                  <a:srgbClr val="3F4A5C"/>
                </a:solidFill>
                <a:latin typeface="Calibri"/>
              </a:rPr>
              <a:t>TDK (batteries), Kyocera (packaging, KDDI).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Comparison matrix: who has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Green = better for the long case; red = stretched or exposed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Company memos [F/A]; stockanalysis.com; Yahoo; *SEMCO = Component Solutions incl. inductors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467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Murata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SEMCO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Taiyo Yuden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Yageo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Walsin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TDK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Kyocera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MLCC % of revenue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~55%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~46%*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~45%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&lt;5%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AI-server share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~45%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~40%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&lt;4%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~3%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&lt;5%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Book-to-bill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1.47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1.31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1.72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2.2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&gt;1.8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Utilization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~95%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~85%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80-85%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80-85%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2026 price action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none (−¥15bn)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+30%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+6-30%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+50% list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+5-15%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Fwd P/E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37.8x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47.6x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36.4x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24.4x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21.7x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22.8x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28.9x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EV / mean EBITDA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32x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65x</a:t>
                      </a:r>
                    </a:p>
                  </a:txBody>
                  <a:tcPr marL="54864" marR="54864" marT="27432" marB="27432">
                    <a:solidFill>
                      <a:srgbClr val="F9E2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22x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34x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20x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14x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15x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From 2026 high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-31%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-30%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-55%</a:t>
                      </a:r>
                    </a:p>
                  </a:txBody>
                  <a:tcPr marL="54864" marR="54864" marT="27432" marB="27432">
                    <a:solidFill>
                      <a:srgbClr val="F9E2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-45%</a:t>
                      </a:r>
                    </a:p>
                  </a:txBody>
                  <a:tcPr marL="54864" marR="54864" marT="27432" marB="27432">
                    <a:solidFill>
                      <a:srgbClr val="F9E2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-41%</a:t>
                      </a:r>
                    </a:p>
                  </a:txBody>
                  <a:tcPr marL="54864" marR="54864" marT="27432" marB="27432">
                    <a:solidFill>
                      <a:srgbClr val="F9E2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-22%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-6%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Capacity: who can add, and when it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High-end lines take 18-24 months; most 2026 decisions arrive 2H27-2028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Capacity memo 02 [A]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466344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Maker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/ utilization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Expansion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Lands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140bn pcs/mo; ~95%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+¥80bn equipment, &gt;20% capacity; new Izumo building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4Q27-2028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SEMCO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98bn pcs/mo; 91%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Philippines plant 3; capex ₩3tn → ₩6tn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1Q27 on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Taiyo Yuden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40bn pcs/mo; ~85%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Malaysia pulled forward; +10-15%/yr; capex ¥42bn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Yageo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n/d; 80-85% → &gt;90%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Kaohsiung, Vietnam, Suzhou, Mexico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Walsin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n/d; 80-85%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+10-15% 2026, +10% 2027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2026-27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Fenghua / Three-Circle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50 / 55→100bn (claims)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High-cap project RMB1.86bn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May-2027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Demand: AI servers and EVs carry the increment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MLCCs per device, log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TrendForce 18 May 2026; passive-components.eu; Mordor [A]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632591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Stocks: the pure plays fell hardest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Distance from the 2026 high and forward P/E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Yahoo; stockanalysis.com, 2 Oct 2026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p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14952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Valuation: EV over cycle-average EBITDA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Same method as the house model; 4-5 years of history for peers, so read as relative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Yahoo fundamentals; stockanalysis.com; house model for Murata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7680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17373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Murata own band: 11.6x median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SEMCO ~65x is the outlier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TDK / Kyocera cheap but not MLCC plays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F4A5C"/>
                </a:solidFill>
                <a:latin typeface="Calibri"/>
              </a:rPr>
              <a:t>• Walsin and Taiyo Yuden: cheapest MLCC levers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History: buying the basket 35% off the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Positive at 24 months in every completed cycle since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Equal-weight basket, local currency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915915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Ranked shortlist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Verdict per name from the one-page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Screens in targets/MLCC/peers and murata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286000"/>
                <a:gridCol w="1554480"/>
                <a:gridCol w="3657600"/>
                <a:gridCol w="292608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54864" marR="54864" marT="27432" marB="27432">
                    <a:solidFill>
                      <a:srgbClr val="1F2D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Walsin (2492.TW)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WORTH A LOOK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Cheapest MLCC lever: 21.7x fwd, revenue +45%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Long tactical; exit on 3 MoM declines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Taiyo Yuden (6976.T)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WORTH A LOOK</a:t>
                      </a:r>
                    </a:p>
                  </a:txBody>
                  <a:tcPr marL="54864" marR="54864" marT="27432" marB="27432">
                    <a:solidFill>
                      <a:srgbClr val="E0F2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Book-to-bill 1.72, -55% from high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Long tactical, small size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Murata (6981.T)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WATCH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Best franchise, 31x vs 12x band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Stage in ¥6,200 / ¥5,000 / ¥4,100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Yageo (2327.TW)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WATCH</a:t>
                      </a:r>
                    </a:p>
                  </a:txBody>
                  <a:tcPr marL="54864" marR="54864" marT="27432" marB="27432">
                    <a:solidFill>
                      <a:srgbClr val="FBF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2018 analog: hikes and double-order risk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Decide after 27 Oct inventory read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SEMCO (009150.KS)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F9E2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~65x mean EBITDA; capex doubling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Short candidate on a turn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TDK (6762.T)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F9E2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Battery story, not MLCC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Out of scope</a:t>
                      </a:r>
                    </a:p>
                  </a:txBody>
                  <a:tcPr marL="54864" marR="54864" marT="27432" marB="27432"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Kyocera (6971.T)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F9E2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Packaging/KDDI story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F4A5C"/>
                          </a:solidFill>
                          <a:latin typeface="Calibri"/>
                        </a:defRPr>
                      </a:pPr>
                      <a:r>
                        <a:t>Out of scope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The big bet and what kills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One trade, one wait, one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Source: This deck  ·  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Trade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57400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Long Walsin + Taiyo Yuden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Into the Japanese 1Q27 price leg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Exit: Taiwan monthly revenue down 3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E6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69500"/>
                </a:solidFill>
                <a:latin typeface="Calibri"/>
              </a:rPr>
              <a:t>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57400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Murata on staged entry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Below ¥6,200 with book-to-bill &gt; 1.0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Best name through the bust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5661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27632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Avoid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057400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SEMCO at ~65x mean EBITDA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Capex doubling into 2027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Short on SC01/SC04 turning 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D5A"/>
                </a:solidFill>
                <a:latin typeface="Calibri"/>
              </a:rPr>
              <a:t>What kills it: distributor double-ordering (Yageo channel months, 27 Oct) or a hyperscaler 2027 capex cut.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5852160"/>
            <a:ext cx="1005840" cy="1005840"/>
          </a:xfrm>
          <a:prstGeom prst="rtTriangle">
            <a:avLst/>
          </a:prstGeom>
          <a:solidFill>
            <a:srgbClr val="C9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F2D5A"/>
                </a:solidFill>
                <a:latin typeface="Calibri"/>
              </a:rPr>
              <a:t>Sources and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8A94A6"/>
                </a:solidFill>
                <a:latin typeface="Calibri"/>
              </a:rPr>
              <a:t>Tags: F = company document; A = attributed; E =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73952"/>
            <a:ext cx="9692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8A94A6"/>
                </a:solidFill>
                <a:latin typeface="Calibri"/>
              </a:rPr>
              <a:t>MLCC competitive deck v1 · 2 Oct 2026 · not investment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94A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Company: Murata fact books 2022-2026 and 1Q FY3/27; Taiyo Yuden 1Q FY3/27 deck [F]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Market: TrendForce (May-Aug 2026), passive-components.eu, cnyes, BigGo summaries [A]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Prices: Yahoo Finance; consensus: stockanalysis.com, 2 Oct 2026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F4A5C"/>
                </a:solidFill>
                <a:latin typeface="Calibri"/>
              </a:rPr>
              <a:t>• Gaps: no primary capacity data; Paumanok/TrendForce price tables paywalled; peer history 4 years only; sell-side reports not yet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