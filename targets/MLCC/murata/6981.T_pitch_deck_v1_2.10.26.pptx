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profit, ¥bn</c:v>
                </c:pt>
              </c:strCache>
            </c:strRef>
          </c:tx>
          <c:spPr>
            <a:solidFill>
              <a:srgbClr val="5B9BD5"/>
            </a:solidFill>
          </c:spPr>
          <c:dPt>
            <c:idx val="0"/>
            <c:spPr>
              <a:solidFill>
                <a:srgbClr val="5B9BD5"/>
              </a:solidFill>
            </c:spPr>
          </c:dPt>
          <c:dPt>
            <c:idx val="1"/>
            <c:spPr>
              <a:solidFill>
                <a:srgbClr val="5B9BD5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5B9BD5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8A94A6"/>
              </a:solidFill>
            </c:spPr>
          </c:dPt>
          <c:dPt>
            <c:idx val="6"/>
            <c:spPr>
              <a:solidFill>
                <a:srgbClr val="1B6CB5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Y3/2022</c:v>
                </c:pt>
                <c:pt idx="1">
                  <c:v>Y3/2023</c:v>
                </c:pt>
                <c:pt idx="2">
                  <c:v>Y3/2024</c:v>
                </c:pt>
                <c:pt idx="3">
                  <c:v>Y3/2025</c:v>
                </c:pt>
                <c:pt idx="4">
                  <c:v>Y3/2026</c:v>
                </c:pt>
                <c:pt idx="5">
                  <c:v>FY27 Apr</c:v>
                </c:pt>
                <c:pt idx="6">
                  <c:v>FY27 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424</c:v>
                </c:pt>
                <c:pt idx="1">
                  <c:v>298</c:v>
                </c:pt>
                <c:pt idx="2">
                  <c:v>215</c:v>
                </c:pt>
                <c:pt idx="3">
                  <c:v>280</c:v>
                </c:pt>
                <c:pt idx="4">
                  <c:v>282</c:v>
                </c:pt>
                <c:pt idx="5">
                  <c:v>380</c:v>
                </c:pt>
                <c:pt idx="6">
                  <c:v>430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A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Murata: the MLCC leader, priced for a new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Best franchise in the cycle; the price already pays for a permanent re-rating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¥8,467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2 Oct 2026 close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116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2140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HOUSE VALUE (PW, PV)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C0392B"/>
                </a:solidFill>
                <a:latin typeface="Calibri"/>
              </a:rPr>
              <a:t>¥4,140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EV / 5-yr-mean EBITDA band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12140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CYCLE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2E7D32"/>
                </a:solidFill>
                <a:latin typeface="Calibri"/>
              </a:rPr>
              <a:t>18.5 /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Upcycle intact (MLCC Cycle Watch)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0116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12140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37744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E69500"/>
                </a:solidFill>
                <a:latin typeface="Calibri"/>
              </a:rPr>
              <a:t>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632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Do not add; stage in below ¥6,200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D5A"/>
                </a:solidFill>
                <a:latin typeface="Calibri"/>
              </a:rPr>
              <a:t>Murata makes ~40% of the world's multilayer ceramic capacitors (MLCCs): the tiny parts that keep a GPU's power steady. AI servers need 8-15x more of them. The business is at a record; the stock trades at nearly 3x its own mid-cycle multiple.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The answer: great cycle, wrong price for Murata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Cycle trade belongs in the laggards; Murata is the name to own after the next drawdown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House model; MLCC Cycle Watch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Cycle: still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5740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Book-to-bill 1.47, a record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Lead times 14-20 wks vs 8-10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SEMCO +30%, Yageo +50% price hikes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Supply can't answer before 2H27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Murata: too dear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5740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EV / 5y-mean EBITDA 31.4x vs 11.6x median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PW value ¥4,140 vs ¥8,467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IRR to Mar-2030: -12%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Price needs a 21x exit to break even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566160" cy="73152"/>
          </a:xfrm>
          <a:prstGeom prst="rect">
            <a:avLst/>
          </a:prstGeom>
          <a:solidFill>
            <a:srgbClr val="1B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6CB5"/>
                </a:solidFill>
                <a:latin typeface="Calibri"/>
              </a:rPr>
              <a:t>What we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5740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Watch, do not add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Stage in at ¥6,200 / ¥5,000 / ¥4,100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Only while book-to-bill &gt; 1.0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20%-IRR entry ¥2,844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Cycle exposure via Taiyo Yuden / Walsin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ELI5: an MLCC is a tiny water tower next to the chip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When a GPU suddenly draws current, nearby capacitors release charge before the power supply can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Murata, Samsung Electro-Mechanics product pages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651760" cy="73152"/>
          </a:xfrm>
          <a:prstGeom prst="rect">
            <a:avLst/>
          </a:prstGeom>
          <a:solidFill>
            <a:srgbClr val="1B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6CB5"/>
                </a:solidFill>
                <a:latin typeface="Calibri"/>
              </a:rPr>
              <a:t>1  Ceramic powder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37744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F4A5C"/>
                </a:solidFill>
                <a:latin typeface="Calibri"/>
              </a:rPr>
              <a:t>Barium titanate, ground finer than flour. Murata makes its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4592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645920"/>
            <a:ext cx="265176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2  Thin sheets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40280"/>
            <a:ext cx="237744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F4A5C"/>
                </a:solidFill>
                <a:latin typeface="Calibri"/>
              </a:rPr>
              <a:t>Cast into sheets under 1 micron thick.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4592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45920"/>
            <a:ext cx="2651760" cy="73152"/>
          </a:xfrm>
          <a:prstGeom prst="rect">
            <a:avLst/>
          </a:prstGeom>
          <a:solidFill>
            <a:srgbClr val="1B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6CB5"/>
                </a:solidFill>
                <a:latin typeface="Calibri"/>
              </a:rPr>
              <a:t>3  Print +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240280"/>
            <a:ext cx="237744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F4A5C"/>
                </a:solidFill>
                <a:latin typeface="Calibri"/>
              </a:rPr>
              <a:t>Nickel electrodes printed, hundreds of layers stacked.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64592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645920"/>
            <a:ext cx="2651760" cy="73152"/>
          </a:xfrm>
          <a:prstGeom prst="rect">
            <a:avLst/>
          </a:prstGeom>
          <a:solidFill>
            <a:srgbClr val="1B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6CB5"/>
                </a:solidFill>
                <a:latin typeface="Calibri"/>
              </a:rPr>
              <a:t>4  Fire + finish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240280"/>
            <a:ext cx="237744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F4A5C"/>
                </a:solidFill>
                <a:latin typeface="Calibri"/>
              </a:rPr>
              <a:t>Sintered at ~1,300°C into a chip 0.4 x 0.2 mm.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2D5A"/>
                </a:solidFill>
                <a:latin typeface="Calibri"/>
              </a:rPr>
              <a:t>More layers, thinner layers = more charge in the same tiny box.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2D5A"/>
                </a:solidFill>
                <a:latin typeface="Calibri"/>
              </a:rPr>
              <a:t>That is the whole game, and the thinnest layers come from the best powder.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Three numbers behind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AI multiplies the parts count; Murata holds the share; the order book says it is still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TrendForce 18 May 2026; passive-components.eu; Murata 1Q FY3/27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MLCCS PER GB200 NVL72 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~440,000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vs ~1,100 in a smartphone [A]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727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AI-SERVER MLCC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2880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~45%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889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SEMCO ~40%; rest &lt;15% [A]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5727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VISIBILITY: CAPACITOR BACKLOG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82880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2E7D32"/>
                </a:solidFill>
                <a:latin typeface="Calibri"/>
              </a:rPr>
              <a:t>¥402bn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7889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MLCC book-to-bill 1.47 [F]</a:t>
            </a:r>
          </a:p>
        </p:txBody>
      </p:sp>
      <p:pic>
        <p:nvPicPr>
          <p:cNvPr id="19" name="Picture 18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693429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The moat: own the powder, own the thinnest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Vertical integration from dielectric powder to firing is what competitors 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Murata IR; passive-components.eu; company research memo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651760" cy="73152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D5A"/>
                </a:solidFill>
                <a:latin typeface="Calibri"/>
              </a:rPr>
              <a:t>THE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377440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F4A5C"/>
                </a:solidFill>
                <a:latin typeface="Calibri"/>
              </a:rPr>
              <a:t>Make the barium-titanate powder, the sheets and the equipment in-house.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4592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645920"/>
            <a:ext cx="2651760" cy="73152"/>
          </a:xfrm>
          <a:prstGeom prst="rect">
            <a:avLst/>
          </a:prstGeom>
          <a:solidFill>
            <a:srgbClr val="1B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6CB5"/>
                </a:solidFill>
                <a:latin typeface="Calibri"/>
              </a:rPr>
              <a:t>Outcome 1: high-cap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40280"/>
            <a:ext cx="2377440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F4A5C"/>
                </a:solidFill>
                <a:latin typeface="Calibri"/>
              </a:rPr>
              <a:t>Thinnest layers reach 10µF+ in small cases first: the GPU power parts.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4592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45920"/>
            <a:ext cx="2651760" cy="73152"/>
          </a:xfrm>
          <a:prstGeom prst="rect">
            <a:avLst/>
          </a:prstGeom>
          <a:solidFill>
            <a:srgbClr val="1B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6CB5"/>
                </a:solidFill>
                <a:latin typeface="Calibri"/>
              </a:rPr>
              <a:t>Outcome 2: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240280"/>
            <a:ext cx="2377440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F4A5C"/>
                </a:solidFill>
                <a:latin typeface="Calibri"/>
              </a:rPr>
              <a:t>~40% value share; ~45% AI-server; ~50% automotive [A].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64592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645920"/>
            <a:ext cx="265176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Outcome 3: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240280"/>
            <a:ext cx="2377440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F4A5C"/>
                </a:solidFill>
                <a:latin typeface="Calibri"/>
              </a:rPr>
              <a:t>Components OP margin &gt;30% in 1Q FY3/27 [F].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F2D5A"/>
                </a:solidFill>
                <a:latin typeface="Calibri"/>
              </a:rPr>
              <a:t>How wide: </a:t>
            </a:r>
            <a:r>
              <a:rPr sz="1600">
                <a:solidFill>
                  <a:srgbClr val="3F4A5C"/>
                </a:solidFill>
                <a:latin typeface="Calibri"/>
              </a:rPr>
              <a:t>wide in high-cap/auto, narrow in commodity parts. SEMCO is within 5 points in AI servers, and Chinese makers are moving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Value chain: powder in, power integrity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Murata sits on the chokepoint step; distributors are where cycles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Company research memo; TrendForce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566160" cy="73152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A94A6"/>
                </a:solidFill>
                <a:latin typeface="Calibri"/>
              </a:rPr>
              <a:t>Upstream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40280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Barium titanate (in-house; Sakai ~25-28% for others)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Nickel / copper paste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Furnaces, printers (in-house)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4592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45920"/>
            <a:ext cx="3566160" cy="73152"/>
          </a:xfrm>
          <a:prstGeom prst="rect">
            <a:avLst/>
          </a:prstGeom>
          <a:solidFill>
            <a:srgbClr val="1B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181051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6CB5"/>
                </a:solidFill>
                <a:latin typeface="Calibri"/>
              </a:rPr>
              <a:t>Murata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240280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Powder → sheet → print → stack → fire → test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Japan, Wuxi, Philippines, Thailand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Utilization ~95%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4592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645920"/>
            <a:ext cx="3566160" cy="73152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81051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D5A"/>
                </a:solidFill>
                <a:latin typeface="Calibri"/>
              </a:rPr>
              <a:t>Downstream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7" y="2240280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Distributors (~1/3 of volume)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AI-server ODMs (Foxconn, Quanta, Wiwynn)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Phones, auto Tier-1s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THE CHOKEPOINT: high-cap, small-case MLCCs for GPU power delivery. Murata + SEMCO supply 80-85%.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Company: ¥2.1tn revenue, half of it capacitors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FY3/27 guidance raised on 31 Jul; capacitors 55% of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Murata fact book 2026; 1Q FY3/27 results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FY3/27 REVENUE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¥2.11tn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+15% YoY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46304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57276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FY3/27 OP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8288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¥430bn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42316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20.4% 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46304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57276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CAPACITOR REVENUE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8288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¥1.16tn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42316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+24% YoY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46304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57276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NET CASH (MAR-26)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18288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¥650bn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42316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+ ¥150bn buyback</a:t>
            </a:r>
          </a:p>
        </p:txBody>
      </p:sp>
      <p:pic>
        <p:nvPicPr>
          <p:cNvPr id="23" name="Picture 22" descr="murata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836327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Supply: two makers own the high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Monthly shipments at full load are the only capacity proxy anyone publishes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TrendForce Jun-2026; passive-components.eu 30 Jun 2026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capacity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274875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D5A"/>
                </a:solidFill>
                <a:latin typeface="Calibri"/>
              </a:rPr>
              <a:t>Murata adds &gt;20% MLCC capacity by Mar-2028 (~¥80bn); first output from the new building 4Q27 [A].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Orders: record book-to-bill, backlog 1.8x the 2021 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The ratio fell below 1 two quarters before each order trough (2019, 2022)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Murata fact books 2022-2026; 1Q FY3/27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murata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0706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Guidance: operating profit raised to ¥430bn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The most-guided line: up ¥50bn in July while price is still a headwind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Murata fact books; 30 Apr and 31 Jul 2026 guidance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46304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Volume does the work: data-center sales ¥371bn (+80%)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Price still -¥15bn YoY: no general MLCC hike yet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Next read: 30 Oct, a third raise needs book-to-bill &gt; 1.3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Cycle: score 18.5, upcycle intact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Seven of twelve signals green, five amber, none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MLCC Cycle Watch, 2 Oct 2026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31520"/>
                <a:gridCol w="914400"/>
                <a:gridCol w="6126480"/>
              </a:tblGrid>
              <a:tr h="34465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Reading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 capacitor book-to-bill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1.47 MLCC / 1.34 total in Apr-Jun 2026, the highest in the series; cap…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Price actions and ASP direction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SEMCO +30% (1 Aug) and a 4Q OEM hike; Yageo +50% list (1 Jul); Taiyo Y…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Channel and customer inventory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AMBER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TrendForce: mainstream channel under 30 days. Yageo: China distributio…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AI-server and hyperscaler demand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2026 hyperscaler capex &gt;$700bn, raised through the year; Murata data-c…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Lead times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Standard 14-18 weeks, high-cap/high-voltage 15-20, some SEMCO high-cap…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Utilization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 ~95%, SEMCO 91%, Taiyo Yuden ~85%, Yageo 80-85% guided above 90…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Taiwan monthly revenue (Yageo, Walsin)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Aug: Yageo NT$16.3bn +51.8% YoY (+1.2% MoM, sixth record); Walsin NT$4…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Capacity and capex response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AMBER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SEMCO capex ~₩3tn (2026) to ~₩6tn (2027) and Philippines plant 3 in 1Q…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Consumer end-demand (phones, PCs)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AMBER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 and TrendForce call consumer demand subdued; TrendForce warns C…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Stocks vs fundamentals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AMBER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Equal-weight basket 36% below its June high; Taiyo Yuden -55%, Yageo -…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 guidance slope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FY3/27 raised on 31 Jul: revenue ¥2.11tn (from 1.96), OP ¥430bn (from 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Chinese supply and pricing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AMBER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Fenghua claims 50bn pcs/month; Three-Circle claims 55 to 100bn by end-…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Twenty-six years of MLCC booms and busts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Stocks peaked 2-4 quarters before orders every time; shortages lasted 10-14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Yahoo adjusted closes; basket = Murata, SEMCO, Taiyo Yuden, Yageo, Walsin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baske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953627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Buying 35% off the peak paid over two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Positive at 24 months in 6 of 6 cycles; a coin toss at 12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Equal-weight basket, local currency; first month &gt;=35% below cycle peak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680960" cy="3527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73736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Today: basket -36%, Murata only -31%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Worst case: 2007, -43% more first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Murata alone works in pauses, not busts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PxQ: everyone is raising prices except the Japanese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Murata's price impact is still -¥15bn YoY: the one leg the stocks have not priced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TrendForce Aug 2026; passive-components.eu; Murata 1Q speech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035040"/>
                <a:gridCol w="1828800"/>
                <a:gridCol w="1371600"/>
              </a:tblGrid>
              <a:tr h="47026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Maker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 action 2026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Effective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Yageo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+50% list, extended to direct customers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 Jul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SEMCO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+30% all MLCC; OEM hike in 4Q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 Aug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Taiyo Yuden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+10-30% auto, +6-13% consumer; second round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Apr / 1 Sep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Walsin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+5-15% consumer MLCC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Jun-Jul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Net price still negative (-¥15bn YoY); 15-35% on AI/auto grades reported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Apr (unconfirmed)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F / 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Kyocera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No 4Q change ("wait and see")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D5A"/>
                </a:solidFill>
                <a:latin typeface="Calibri"/>
              </a:rPr>
              <a:t>Sensitivity: every +5% on Murata capacitor price ≈ +¥45-50bn EBITDA (≈ +8% on FY3/27).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Valuation: 31x mid-cycle EBITDA vs an 11.6x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House method: EV / 5-yr-mean EBITDA on the own band; P/B as the timing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Murata fact books; Yahoo; house model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murata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863840" cy="33036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17373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Band p25 / median / p75: 10.4 / 11.6 / 13.5x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P/B 136% above its own median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Trailing P/E 66x vs 23x median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Sensitivity: price and volume barely move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Value per share at exit (¥). Left: annual MLCC price x volume. Right: exit multiple x mean EBITDA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House model, Sensitivity sheet (live formulas)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760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90"/>
                <a:gridCol w="720090"/>
                <a:gridCol w="720090"/>
                <a:gridCol w="720090"/>
                <a:gridCol w="720090"/>
                <a:gridCol w="720090"/>
                <a:gridCol w="720090"/>
                <a:gridCol w="720090"/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 \ price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-10%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-5%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-2%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+0%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+3%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+6%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+10%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4,021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4,224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4,364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4,580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4,806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5,120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+0%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3,796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4,157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4,385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4,543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4,787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5,041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5,396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3,899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4,302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4,558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4,735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5,009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5,294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5,692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+10%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4,007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4,457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4,742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4,939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5,246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5,564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6,010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+15%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4,121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4,621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4,938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5,157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5,498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5,853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6,350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+20%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4,242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4,794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5,146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5,389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5,767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6,161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6,712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463040"/>
          <a:ext cx="5212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10"/>
                <a:gridCol w="651510"/>
                <a:gridCol w="651510"/>
                <a:gridCol w="651510"/>
                <a:gridCol w="651510"/>
                <a:gridCol w="651510"/>
                <a:gridCol w="651510"/>
                <a:gridCol w="65151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 \ ¥bn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450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550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650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700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8x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2,798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3,017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3,237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3,457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3,677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3,896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4,336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10.4x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3,391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3,677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3,962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4,248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4,534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4,819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5,391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11.6x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3,688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4,006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4,325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4,644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4,962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5,281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5,918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13.5x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4,157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4,528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4,899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5,270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5,641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6,011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6,753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16x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4,775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5,215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5,654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6,094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6,533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6,973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7,852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20x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5,764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6,314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6,863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7,412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7,962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8,511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9,610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25x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7,000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7,687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8,374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9,060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9,747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10,434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11,807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30x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8,236</a:t>
                      </a:r>
                    </a:p>
                  </a:txBody>
                  <a:tcPr marL="54864" marR="54864" marT="27432" marB="27432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9,060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9,884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10,708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11,533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12,357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14,005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D5A"/>
                </a:solidFill>
                <a:latin typeface="Calibri"/>
              </a:rPr>
              <a:t>Even +20% volume and +10% price a year for three years reach only ~¥6,712 on the own band. Today's ¥8,467 needs ~21x. The multiple is the debate, not the cycle.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Scenarios to March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Exit on the own band; FY3/27 = company guidance; 25/50/25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House model, Scenarios sheet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920240"/>
                <a:gridCol w="1920240"/>
                <a:gridCol w="1920240"/>
                <a:gridCol w="2011680"/>
              </a:tblGrid>
              <a:tr h="447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Bear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Bull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Prob-weighted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Capacitor volume FY28/29/30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+5 / -8 / +2%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+15 / +8 / -2%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+20 / +12 / +5%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Capacitor price FY28/29/30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-3 / -10 / -3%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+3 / +1 / -5%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+10 / +3 / -2%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FY3/30 EBITDA (¥bn)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710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985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714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Exit multiple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10.4x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11.6x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13.5x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Value per share at exit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¥3,498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¥5,013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¥6,768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¥5,073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PV per share (8% CoE)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¥2,937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¥4,094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¥5,435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¥4,140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IRR from ¥8,467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-20%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-12%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-12%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Entry for 20% IRR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¥2,012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¥2,812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¥3,739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¥2,844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Value ladder: half the price on the house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PW present value ¥4,140; staged entry ¥6,200 / ¥5,000 / ¥4,100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House model; stockanalysis.com consensus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murata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305197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3F4A5C"/>
                </a:solidFill>
                <a:latin typeface="Calibri"/>
              </a:rPr>
              <a:t>Steelman: if the trough margin has moved up for good, a 15-16x band gives ¥6,200-6,600 at exit. Still below the price.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Competition: who can take the high-end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Ranked by threat to Murata in AI-server and automotive MLCC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Company memos; stockanalysis.com; Yahoo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High: SEMCO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57400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~40% AI-server share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+30% price, ₩3.3tn LTAs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Capex doubling in 2027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Fwd P/E 47.6x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E6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69500"/>
                </a:solidFill>
                <a:latin typeface="Calibri"/>
              </a:rPr>
              <a:t>Medium: China makers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57400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Fenghua, Three-Circle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Claims 50 and 55→100bn pcs/mo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High-cap project May-2027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Commodity first, then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56616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Low: the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57400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Taiyo Yuden, TDK, Yageo, Kyocera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AI-server share &lt;5% each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Strong in niches (Taiyo high-cap, Yageo commodity)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TDK-Taiyo alliance is the one to watch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Catalysts: the 30 October call decides the next leg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Dates marked est. inferred from last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Company IR calendars; investing.com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5303520"/>
              </a:tblGrid>
              <a:tr h="4963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Event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to read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~8-9 Oct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Yageo / Walsin Sep revenue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Industry volume and price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27 Oct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Yageo 3Q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Distribution inventory months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~29-30 Oct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SEMCO 3Q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Capex 2027, LTA pricing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30 Oct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 2Q FY3/27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Book-to-bill, price stance, third guide raise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Nov-Dec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Japanese 1Q27 price decisions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The un-priced leg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~2-5 Feb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 3Q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Distributor orders, inventory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What would make us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And what we could not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Research memos 01-06  ·  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0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212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Ways to be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57400"/>
            <a:ext cx="5257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Regime change: AI parts become contracted, trough margins up → 15-20x is the new band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Japanese price leg lifts FY3/28 EBITDA toward ¥1tn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Whole cohort re-rates as "AI picks and shovels", like memory in 2025-26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394960" cy="73152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2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A94A6"/>
                </a:solidFill>
                <a:latin typeface="Calibri"/>
              </a:rPr>
              <a:t>Open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057400"/>
            <a:ext cx="51663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Murata MLCC price letter unconfirmed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No named-customer shares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Capacitor EBITDA not disclosed (model derives ~42%)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Sell-side reports (G: drive) not yet included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Capacity is a shipment proxy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Investment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How we own a cyclical with a great franchise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Murata (6981.T) · Glilot pitch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51560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F2D5A"/>
                </a:solidFill>
                <a:latin typeface="Calibri"/>
              </a:rPr>
              <a:t>Own the cycle where it is cheap, own the franchise where the price is right.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F2D5A"/>
                </a:solidFill>
                <a:latin typeface="Calibri"/>
              </a:rPr>
              <a:t>MLCC demand has two more quarters of momentum and no supply answer before 2H27, so the trade sits in the laggards that fell 40-55%.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F2D5A"/>
                </a:solidFill>
                <a:latin typeface="Calibri"/>
              </a:rPr>
              <a:t>Murata is the name we want through the next downturn: it falls least and recovers first. We buy it in stages when the price meets the band, not when the headlines peak.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